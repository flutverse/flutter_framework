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746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 standalone="yes"?>
<Relationships xmlns="http://schemas.openxmlformats.org/package/2006/relationships">
  <Relationship Id="rId3" Type="http://schemas.openxmlformats.org/officeDocument/2006/relationships/presProps" Target="presProps.xml" />
  <Relationship Id="rId1" Type="http://schemas.openxmlformats.org/officeDocument/2006/relationships/slideMaster" Target="slideMasters/slideMaster1.xml" />
  <Relationship Id="rId6" Type="http://schemas.openxmlformats.org/officeDocument/2006/relationships/tableStyles" Target="tableStyles.xml" />
  <Relationship Id="rId5" Type="http://schemas.openxmlformats.org/officeDocument/2006/relationships/theme" Target="theme/theme1.xml" />
  <Relationship Id="rId4" Type="http://schemas.openxmlformats.org/officeDocument/2006/relationships/viewProps" Target="viewProps.xml" />
  <Relationship Id="rId7" Type="http://schemas.openxmlformats.org/officeDocument/2006/relationships/slide" Target="slides/slide1.xml" />
  <Relationship Id="rId8" Type="http://schemas.openxmlformats.org/officeDocument/2006/relationships/slide" Target="slides/slide2.xml" />
  <Relationship Id="rId9" Type="http://schemas.openxmlformats.org/officeDocument/2006/relationships/slide" Target="slides/slide3.xml" />
  <Relationship Id="rId10" Type="http://schemas.openxmlformats.org/officeDocument/2006/relationships/slide" Target="slides/slide4.xml" />
  <Relationship Id="rId11" Type="http://schemas.openxmlformats.org/officeDocument/2006/relationships/slide" Target="slides/slide5.xml" />
  <Relationship Id="rId12" Type="http://schemas.openxmlformats.org/officeDocument/2006/relationships/slide" Target="slides/slide6.xml" />
  <Relationship Id="rId13" Type="http://schemas.openxmlformats.org/officeDocument/2006/relationships/slide" Target="slides/slide7.xml" />
  <Relationship Id="rId14" Type="http://schemas.openxmlformats.org/officeDocument/2006/relationships/slide" Target="slides/slide8.xml" />
  <Relationship Id="rId15" Type="http://schemas.openxmlformats.org/officeDocument/2006/relationships/slide" Target="slides/slide9.xml" />
  <Relationship Id="rId16" Type="http://schemas.openxmlformats.org/officeDocument/2006/relationships/slide" Target="slides/slide10.xml" />
  <Relationship Id="rId17" Type="http://schemas.openxmlformats.org/officeDocument/2006/relationships/slide" Target="slides/slide11.xml" />
  <Relationship Id="rId18" Type="http://schemas.openxmlformats.org/officeDocument/2006/relationships/slide" Target="slides/slide12.xml" />
  <Relationship Id="rId19" Type="http://schemas.openxmlformats.org/officeDocument/2006/relationships/slide" Target="slides/slide13.xml" />
  <Relationship Id="rId20" Type="http://schemas.openxmlformats.org/officeDocument/2006/relationships/slide" Target="slides/slide14.xml" />
  <Relationship Id="rId21" Type="http://schemas.openxmlformats.org/officeDocument/2006/relationships/slide" Target="slides/slide15.xml" />
  <Relationship Id="rId22" Type="http://schemas.openxmlformats.org/officeDocument/2006/relationships/slide" Target="slides/slide16.xml" />
  <Relationship Id="rId23" Type="http://schemas.openxmlformats.org/officeDocument/2006/relationships/slide" Target="slides/slide17.xml" />
  <Relationship Id="rId24" Type="http://schemas.openxmlformats.org/officeDocument/2006/relationships/slide" Target="slides/slide18.xml" />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48781-F057-4428-8F3D-53BF0E5782D2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9DC18-81CF-43A9-8250-D1EBCE74C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600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48781-F057-4428-8F3D-53BF0E5782D2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9DC18-81CF-43A9-8250-D1EBCE74C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892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48781-F057-4428-8F3D-53BF0E5782D2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9DC18-81CF-43A9-8250-D1EBCE74C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304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48781-F057-4428-8F3D-53BF0E5782D2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9DC18-81CF-43A9-8250-D1EBCE74C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976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48781-F057-4428-8F3D-53BF0E5782D2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9DC18-81CF-43A9-8250-D1EBCE74C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464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48781-F057-4428-8F3D-53BF0E5782D2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9DC18-81CF-43A9-8250-D1EBCE74C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712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48781-F057-4428-8F3D-53BF0E5782D2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9DC18-81CF-43A9-8250-D1EBCE74C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561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48781-F057-4428-8F3D-53BF0E5782D2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9DC18-81CF-43A9-8250-D1EBCE74C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216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48781-F057-4428-8F3D-53BF0E5782D2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9DC18-81CF-43A9-8250-D1EBCE74C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741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48781-F057-4428-8F3D-53BF0E5782D2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9DC18-81CF-43A9-8250-D1EBCE74C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45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48781-F057-4428-8F3D-53BF0E5782D2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9DC18-81CF-43A9-8250-D1EBCE74C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816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648781-F057-4428-8F3D-53BF0E5782D2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39DC18-81CF-43A9-8250-D1EBCE74C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769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D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ccent"/>
          <p:cNvSpPr/>
          <p:nvPr/>
        </p:nvSpPr>
        <p:spPr>
          <a:xfrm>
            <a:off x="720000" y="1250000"/>
            <a:ext cx="1450000" cy="70000"/>
          </a:xfrm>
          <a:prstGeom prst="rect">
            <a:avLst/>
          </a:prstGeom>
          <a:solidFill>
            <a:srgbClr val="28C7FA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"/>
          <p:cNvSpPr/>
          <p:nvPr/>
        </p:nvSpPr>
        <p:spPr>
          <a:xfrm>
            <a:off x="720000" y="510000"/>
            <a:ext cx="7600000" cy="6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000" b="1">
                <a:solidFill>
                  <a:srgbClr val="FFFFFF"/>
                </a:solidFill>
                <a:latin typeface="Aptos"/>
              </a:rPr>
              <a:t>Flutter Framework</a:t>
            </a:r>
            <a:endParaRPr lang="en-US"/>
          </a:p>
        </p:txBody>
      </p:sp>
      <p:sp>
        <p:nvSpPr>
          <p:cNvPr id="3" name="Subtitle"/>
          <p:cNvSpPr/>
          <p:nvPr/>
        </p:nvSpPr>
        <p:spPr>
          <a:xfrm>
            <a:off x="720000" y="1650000"/>
            <a:ext cx="7600000" cy="1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>
                <a:solidFill>
                  <a:srgbClr val="B9D9FF"/>
                </a:solidFill>
                <a:latin typeface="Aptos"/>
              </a:rPr>
              <a:t>A structured learning presentation built from this project's lesson notes</a:t>
            </a:r>
            <a:endParaRPr lang="en-US"/>
          </a:p>
        </p:txBody>
      </p:sp>
      <p:sp>
        <p:nvSpPr>
          <p:cNvPr id="4" name="Cover details"/>
          <p:cNvSpPr/>
          <p:nvPr/>
        </p:nvSpPr>
        <p:spPr>
          <a:xfrm>
            <a:off x="720000" y="3700000"/>
            <a:ext cx="7600000" cy="1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700">
                <a:solidFill>
                  <a:srgbClr val="FFFFFF"/>
                </a:solidFill>
                <a:latin typeface="Aptos"/>
              </a:rPr>
              <a:t>From first setup to production-ready app architecture</a:t>
            </a:r>
            <a:endParaRPr lang="en-US"/>
          </a:p>
          <a:p>
            <a:r>
              <a:rPr lang="en-US" sz="1700">
                <a:solidFill>
                  <a:srgbClr val="FFFFFF"/>
                </a:solidFill>
                <a:latin typeface="Aptos"/>
              </a:rPr>
              <a:t>Android | iOS | Web | Windows | macOS | Linux</a:t>
            </a:r>
            <a:endParaRPr lang="en-US"/>
          </a:p>
        </p:txBody>
      </p:sp>
      <p:sp>
        <p:nvSpPr>
          <p:cNvPr id="9" name="Footer"/>
          <p:cNvSpPr/>
          <p:nvPr/>
        </p:nvSpPr>
        <p:spPr>
          <a:xfrm>
            <a:off x="720000" y="6250000"/>
            <a:ext cx="76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950">
                <a:solidFill>
                  <a:srgbClr val="8FA9C9"/>
                </a:solidFill>
                <a:latin typeface="Aptos"/>
              </a:rPr>
              <a:t>Flutter Learning Path  |  1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D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ccent"/>
          <p:cNvSpPr/>
          <p:nvPr/>
        </p:nvSpPr>
        <p:spPr>
          <a:xfrm>
            <a:off x="720000" y="1250000"/>
            <a:ext cx="1450000" cy="70000"/>
          </a:xfrm>
          <a:prstGeom prst="rect">
            <a:avLst/>
          </a:prstGeom>
          <a:solidFill>
            <a:srgbClr val="28C7FA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"/>
          <p:cNvSpPr/>
          <p:nvPr/>
        </p:nvSpPr>
        <p:spPr>
          <a:xfrm>
            <a:off x="720000" y="510000"/>
            <a:ext cx="7600000" cy="6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000" b="1">
                <a:solidFill>
                  <a:srgbClr val="FFFFFF"/>
                </a:solidFill>
                <a:latin typeface="Aptos"/>
              </a:rPr>
              <a:t>Course Roadmap</a:t>
            </a:r>
            <a:endParaRPr lang="en-US"/>
          </a:p>
        </p:txBody>
      </p:sp>
      <p:sp>
        <p:nvSpPr>
          <p:cNvPr id="3" name="Content"/>
          <p:cNvSpPr/>
          <p:nvPr/>
        </p:nvSpPr>
        <p:spPr>
          <a:xfrm>
            <a:off x="930000" y="1680000"/>
            <a:ext cx="7100000" cy="4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>
                <a:solidFill>
                  <a:srgbClr val="E7EEF8"/>
                </a:solidFill>
                <a:latin typeface="Aptos"/>
              </a:rPr>
              <a:t>- 1. Flutter Framework Introduction</a:t>
            </a:r>
            <a:endParaRPr lang="en-US"/>
          </a:p>
          <a:p>
            <a:r>
              <a:rPr lang="en-US" sz="1800">
                <a:solidFill>
                  <a:srgbClr val="E7EEF8"/>
                </a:solidFill>
                <a:latin typeface="Aptos"/>
              </a:rPr>
              <a:t>- 2. Development Setup</a:t>
            </a:r>
            <a:endParaRPr lang="en-US"/>
          </a:p>
          <a:p>
            <a:r>
              <a:rPr lang="en-US" sz="1800">
                <a:solidFill>
                  <a:srgbClr val="E7EEF8"/>
                </a:solidFill>
                <a:latin typeface="Aptos"/>
              </a:rPr>
              <a:t>- 3. Flutter Project Structure</a:t>
            </a:r>
            <a:endParaRPr lang="en-US"/>
          </a:p>
          <a:p>
            <a:r>
              <a:rPr lang="en-US" sz="1800">
                <a:solidFill>
                  <a:srgbClr val="E7EEF8"/>
                </a:solidFill>
                <a:latin typeface="Aptos"/>
              </a:rPr>
              <a:t>- 4. App UI and Widgets</a:t>
            </a:r>
            <a:endParaRPr lang="en-US"/>
          </a:p>
          <a:p>
            <a:r>
              <a:rPr lang="en-US" sz="1800">
                <a:solidFill>
                  <a:srgbClr val="E7EEF8"/>
                </a:solidFill>
                <a:latin typeface="Aptos"/>
              </a:rPr>
              <a:t>- 5. App Logic and Full-Stack Foundations</a:t>
            </a:r>
            <a:endParaRPr lang="en-US"/>
          </a:p>
        </p:txBody>
      </p:sp>
      <p:sp>
        <p:nvSpPr>
          <p:cNvPr id="9" name="Footer"/>
          <p:cNvSpPr/>
          <p:nvPr/>
        </p:nvSpPr>
        <p:spPr>
          <a:xfrm>
            <a:off x="720000" y="6250000"/>
            <a:ext cx="76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950">
                <a:solidFill>
                  <a:srgbClr val="8FA9C9"/>
                </a:solidFill>
                <a:latin typeface="Aptos"/>
              </a:rPr>
              <a:t>Flutter Learning Path  |  2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D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ccent"/>
          <p:cNvSpPr/>
          <p:nvPr/>
        </p:nvSpPr>
        <p:spPr>
          <a:xfrm>
            <a:off x="720000" y="1250000"/>
            <a:ext cx="1450000" cy="70000"/>
          </a:xfrm>
          <a:prstGeom prst="rect">
            <a:avLst/>
          </a:prstGeom>
          <a:solidFill>
            <a:srgbClr val="28C7FA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"/>
          <p:cNvSpPr/>
          <p:nvPr/>
        </p:nvSpPr>
        <p:spPr>
          <a:xfrm>
            <a:off x="720000" y="510000"/>
            <a:ext cx="7600000" cy="6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000" b="1">
                <a:solidFill>
                  <a:srgbClr val="FFFFFF"/>
                </a:solidFill>
                <a:latin typeface="Aptos"/>
              </a:rPr>
              <a:t>What is Flutter?</a:t>
            </a:r>
            <a:endParaRPr lang="en-US"/>
          </a:p>
        </p:txBody>
      </p:sp>
      <p:sp>
        <p:nvSpPr>
          <p:cNvPr id="3" name="Content"/>
          <p:cNvSpPr/>
          <p:nvPr/>
        </p:nvSpPr>
        <p:spPr>
          <a:xfrm>
            <a:off x="930000" y="1680000"/>
            <a:ext cx="7100000" cy="4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>
                <a:solidFill>
                  <a:srgbClr val="E7EEF8"/>
                </a:solidFill>
                <a:latin typeface="Aptos"/>
              </a:rPr>
              <a:t>- Google UI framework for building multi-platform applications</a:t>
            </a:r>
            <a:endParaRPr lang="en-US"/>
          </a:p>
          <a:p>
            <a:r>
              <a:rPr lang="en-US" sz="1800">
                <a:solidFill>
                  <a:srgbClr val="E7EEF8"/>
                </a:solidFill>
                <a:latin typeface="Aptos"/>
              </a:rPr>
              <a:t>- One codebase can target mobile, web, and desktop</a:t>
            </a:r>
            <a:endParaRPr lang="en-US"/>
          </a:p>
          <a:p>
            <a:r>
              <a:rPr lang="en-US" sz="1800">
                <a:solidFill>
                  <a:srgbClr val="E7EEF8"/>
                </a:solidFill>
                <a:latin typeface="Aptos"/>
              </a:rPr>
              <a:t>- Uses Dart and its own rendering engine to draw the interface</a:t>
            </a:r>
            <a:endParaRPr lang="en-US"/>
          </a:p>
          <a:p>
            <a:r>
              <a:rPr lang="en-US" sz="1800">
                <a:solidFill>
                  <a:srgbClr val="E7EEF8"/>
                </a:solidFill>
                <a:latin typeface="Aptos"/>
              </a:rPr>
              <a:t>- Core principle: Everything is a Widget</a:t>
            </a:r>
            <a:endParaRPr lang="en-US"/>
          </a:p>
        </p:txBody>
      </p:sp>
      <p:sp>
        <p:nvSpPr>
          <p:cNvPr id="9" name="Footer"/>
          <p:cNvSpPr/>
          <p:nvPr/>
        </p:nvSpPr>
        <p:spPr>
          <a:xfrm>
            <a:off x="720000" y="6250000"/>
            <a:ext cx="76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950">
                <a:solidFill>
                  <a:srgbClr val="8FA9C9"/>
                </a:solidFill>
                <a:latin typeface="Aptos"/>
              </a:rPr>
              <a:t>Flutter Learning Path  |  3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D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ccent"/>
          <p:cNvSpPr/>
          <p:nvPr/>
        </p:nvSpPr>
        <p:spPr>
          <a:xfrm>
            <a:off x="720000" y="1250000"/>
            <a:ext cx="1450000" cy="70000"/>
          </a:xfrm>
          <a:prstGeom prst="rect">
            <a:avLst/>
          </a:prstGeom>
          <a:solidFill>
            <a:srgbClr val="28C7FA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"/>
          <p:cNvSpPr/>
          <p:nvPr/>
        </p:nvSpPr>
        <p:spPr>
          <a:xfrm>
            <a:off x="720000" y="510000"/>
            <a:ext cx="7600000" cy="6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000" b="1">
                <a:solidFill>
                  <a:srgbClr val="FFFFFF"/>
                </a:solidFill>
                <a:latin typeface="Aptos"/>
              </a:rPr>
              <a:t>Why a Single Codebase Matters</a:t>
            </a:r>
            <a:endParaRPr lang="en-US"/>
          </a:p>
        </p:txBody>
      </p:sp>
      <p:sp>
        <p:nvSpPr>
          <p:cNvPr id="3" name="Content"/>
          <p:cNvSpPr/>
          <p:nvPr/>
        </p:nvSpPr>
        <p:spPr>
          <a:xfrm>
            <a:off x="930000" y="1680000"/>
            <a:ext cx="7100000" cy="4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>
                <a:solidFill>
                  <a:srgbClr val="E7EEF8"/>
                </a:solidFill>
                <a:latin typeface="Aptos"/>
              </a:rPr>
              <a:t>- Share product features and business rules across platforms</a:t>
            </a:r>
            <a:endParaRPr lang="en-US"/>
          </a:p>
          <a:p>
            <a:r>
              <a:rPr lang="en-US" sz="1800">
                <a:solidFill>
                  <a:srgbClr val="E7EEF8"/>
                </a:solidFill>
                <a:latin typeface="Aptos"/>
              </a:rPr>
              <a:t>- Keep UI behavior consistent while still reaching native platforms</a:t>
            </a:r>
            <a:endParaRPr lang="en-US"/>
          </a:p>
          <a:p>
            <a:r>
              <a:rPr lang="en-US" sz="1800">
                <a:solidFill>
                  <a:srgbClr val="E7EEF8"/>
                </a:solidFill>
                <a:latin typeface="Aptos"/>
              </a:rPr>
              <a:t>- Iterate faster with hot reload and a widget-based UI model</a:t>
            </a:r>
            <a:endParaRPr lang="en-US"/>
          </a:p>
          <a:p>
            <a:r>
              <a:rPr lang="en-US" sz="1800">
                <a:solidFill>
                  <a:srgbClr val="E7EEF8"/>
                </a:solidFill>
                <a:latin typeface="Aptos"/>
              </a:rPr>
              <a:t>- Focus development effort on the app, not duplicate implementations</a:t>
            </a:r>
            <a:endParaRPr lang="en-US"/>
          </a:p>
        </p:txBody>
      </p:sp>
      <p:sp>
        <p:nvSpPr>
          <p:cNvPr id="9" name="Footer"/>
          <p:cNvSpPr/>
          <p:nvPr/>
        </p:nvSpPr>
        <p:spPr>
          <a:xfrm>
            <a:off x="720000" y="6250000"/>
            <a:ext cx="76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950">
                <a:solidFill>
                  <a:srgbClr val="8FA9C9"/>
                </a:solidFill>
                <a:latin typeface="Aptos"/>
              </a:rPr>
              <a:t>Flutter Learning Path  |  4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D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ccent"/>
          <p:cNvSpPr/>
          <p:nvPr/>
        </p:nvSpPr>
        <p:spPr>
          <a:xfrm>
            <a:off x="720000" y="1250000"/>
            <a:ext cx="1450000" cy="70000"/>
          </a:xfrm>
          <a:prstGeom prst="rect">
            <a:avLst/>
          </a:prstGeom>
          <a:solidFill>
            <a:srgbClr val="28C7FA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"/>
          <p:cNvSpPr/>
          <p:nvPr/>
        </p:nvSpPr>
        <p:spPr>
          <a:xfrm>
            <a:off x="720000" y="510000"/>
            <a:ext cx="7600000" cy="6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000" b="1">
                <a:solidFill>
                  <a:srgbClr val="FFFFFF"/>
                </a:solidFill>
                <a:latin typeface="Aptos"/>
              </a:rPr>
              <a:t>Development Setup</a:t>
            </a:r>
            <a:endParaRPr lang="en-US"/>
          </a:p>
        </p:txBody>
      </p:sp>
      <p:sp>
        <p:nvSpPr>
          <p:cNvPr id="3" name="Content"/>
          <p:cNvSpPr/>
          <p:nvPr/>
        </p:nvSpPr>
        <p:spPr>
          <a:xfrm>
            <a:off x="930000" y="1680000"/>
            <a:ext cx="7100000" cy="4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>
                <a:solidFill>
                  <a:srgbClr val="E7EEF8"/>
                </a:solidFill>
                <a:latin typeface="Aptos"/>
              </a:rPr>
              <a:t>- Supported environments: Windows, macOS, and Linux</a:t>
            </a:r>
            <a:endParaRPr lang="en-US"/>
          </a:p>
          <a:p>
            <a:r>
              <a:rPr lang="en-US" sz="1800">
                <a:solidFill>
                  <a:srgbClr val="E7EEF8"/>
                </a:solidFill>
                <a:latin typeface="Aptos"/>
              </a:rPr>
              <a:t>- Install Flutter SDK, Git, PowerShell, and an IDE</a:t>
            </a:r>
            <a:endParaRPr lang="en-US"/>
          </a:p>
          <a:p>
            <a:r>
              <a:rPr lang="en-US" sz="1800">
                <a:solidFill>
                  <a:srgbClr val="E7EEF8"/>
                </a:solidFill>
                <a:latin typeface="Aptos"/>
              </a:rPr>
              <a:t>- Configure platform tooling for Android, iOS, web, or desktop</a:t>
            </a:r>
            <a:endParaRPr lang="en-US"/>
          </a:p>
          <a:p>
            <a:r>
              <a:rPr lang="en-US" sz="1800">
                <a:solidFill>
                  <a:srgbClr val="E7EEF8"/>
                </a:solidFill>
                <a:latin typeface="Aptos"/>
              </a:rPr>
              <a:t>- Use Flutter CLI to create, inspect, run, and build projects</a:t>
            </a:r>
            <a:endParaRPr lang="en-US"/>
          </a:p>
        </p:txBody>
      </p:sp>
      <p:sp>
        <p:nvSpPr>
          <p:cNvPr id="9" name="Footer"/>
          <p:cNvSpPr/>
          <p:nvPr/>
        </p:nvSpPr>
        <p:spPr>
          <a:xfrm>
            <a:off x="720000" y="6250000"/>
            <a:ext cx="76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950">
                <a:solidFill>
                  <a:srgbClr val="8FA9C9"/>
                </a:solidFill>
                <a:latin typeface="Aptos"/>
              </a:rPr>
              <a:t>Flutter Learning Path  |  5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D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ccent"/>
          <p:cNvSpPr/>
          <p:nvPr/>
        </p:nvSpPr>
        <p:spPr>
          <a:xfrm>
            <a:off x="720000" y="1250000"/>
            <a:ext cx="1450000" cy="70000"/>
          </a:xfrm>
          <a:prstGeom prst="rect">
            <a:avLst/>
          </a:prstGeom>
          <a:solidFill>
            <a:srgbClr val="28C7FA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"/>
          <p:cNvSpPr/>
          <p:nvPr/>
        </p:nvSpPr>
        <p:spPr>
          <a:xfrm>
            <a:off x="720000" y="510000"/>
            <a:ext cx="7600000" cy="6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000" b="1">
                <a:solidFill>
                  <a:srgbClr val="FFFFFF"/>
                </a:solidFill>
                <a:latin typeface="Aptos"/>
              </a:rPr>
              <a:t>Flutter CLI: Essential Workflow</a:t>
            </a:r>
            <a:endParaRPr lang="en-US"/>
          </a:p>
        </p:txBody>
      </p:sp>
      <p:sp>
        <p:nvSpPr>
          <p:cNvPr id="3" name="Content"/>
          <p:cNvSpPr/>
          <p:nvPr/>
        </p:nvSpPr>
        <p:spPr>
          <a:xfrm>
            <a:off x="930000" y="1680000"/>
            <a:ext cx="7100000" cy="4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>
                <a:solidFill>
                  <a:srgbClr val="E7EEF8"/>
                </a:solidFill>
                <a:latin typeface="Aptos"/>
              </a:rPr>
              <a:t>- flutter doctor - validate the development environment</a:t>
            </a:r>
            <a:endParaRPr lang="en-US"/>
          </a:p>
          <a:p>
            <a:r>
              <a:rPr lang="en-US" sz="1800">
                <a:solidFill>
                  <a:srgbClr val="E7EEF8"/>
                </a:solidFill>
                <a:latin typeface="Aptos"/>
              </a:rPr>
              <a:t>- flutter create - start a new application</a:t>
            </a:r>
            <a:endParaRPr lang="en-US"/>
          </a:p>
          <a:p>
            <a:r>
              <a:rPr lang="en-US" sz="1800">
                <a:solidFill>
                  <a:srgbClr val="E7EEF8"/>
                </a:solidFill>
                <a:latin typeface="Aptos"/>
              </a:rPr>
              <a:t>- flutter run - launch and debug on a target device</a:t>
            </a:r>
            <a:endParaRPr lang="en-US"/>
          </a:p>
          <a:p>
            <a:r>
              <a:rPr lang="en-US" sz="1800">
                <a:solidFill>
                  <a:srgbClr val="E7EEF8"/>
                </a:solidFill>
                <a:latin typeface="Aptos"/>
              </a:rPr>
              <a:t>- flutter build - create release artifacts for distribution</a:t>
            </a:r>
            <a:endParaRPr lang="en-US"/>
          </a:p>
        </p:txBody>
      </p:sp>
      <p:sp>
        <p:nvSpPr>
          <p:cNvPr id="9" name="Footer"/>
          <p:cNvSpPr/>
          <p:nvPr/>
        </p:nvSpPr>
        <p:spPr>
          <a:xfrm>
            <a:off x="720000" y="6250000"/>
            <a:ext cx="76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950">
                <a:solidFill>
                  <a:srgbClr val="8FA9C9"/>
                </a:solidFill>
                <a:latin typeface="Aptos"/>
              </a:rPr>
              <a:t>Flutter Learning Path  |  6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D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ccent"/>
          <p:cNvSpPr/>
          <p:nvPr/>
        </p:nvSpPr>
        <p:spPr>
          <a:xfrm>
            <a:off x="720000" y="1250000"/>
            <a:ext cx="1450000" cy="70000"/>
          </a:xfrm>
          <a:prstGeom prst="rect">
            <a:avLst/>
          </a:prstGeom>
          <a:solidFill>
            <a:srgbClr val="28C7FA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"/>
          <p:cNvSpPr/>
          <p:nvPr/>
        </p:nvSpPr>
        <p:spPr>
          <a:xfrm>
            <a:off x="720000" y="510000"/>
            <a:ext cx="7600000" cy="6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000" b="1">
                <a:solidFill>
                  <a:srgbClr val="FFFFFF"/>
                </a:solidFill>
                <a:latin typeface="Aptos"/>
              </a:rPr>
              <a:t>Project Structure at a Glance</a:t>
            </a:r>
            <a:endParaRPr lang="en-US"/>
          </a:p>
        </p:txBody>
      </p:sp>
      <p:sp>
        <p:nvSpPr>
          <p:cNvPr id="3" name="Content"/>
          <p:cNvSpPr/>
          <p:nvPr/>
        </p:nvSpPr>
        <p:spPr>
          <a:xfrm>
            <a:off x="930000" y="1680000"/>
            <a:ext cx="7100000" cy="4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>
                <a:solidFill>
                  <a:srgbClr val="E7EEF8"/>
                </a:solidFill>
                <a:latin typeface="Aptos"/>
              </a:rPr>
              <a:t>- lib/ contains the Dart source code and main.dart entry point</a:t>
            </a:r>
            <a:endParaRPr lang="en-US"/>
          </a:p>
          <a:p>
            <a:r>
              <a:rPr lang="en-US" sz="1800">
                <a:solidFill>
                  <a:srgbClr val="E7EEF8"/>
                </a:solidFill>
                <a:latin typeface="Aptos"/>
              </a:rPr>
              <a:t>- assets/ stores images, fonts, and other bundled resources</a:t>
            </a:r>
            <a:endParaRPr lang="en-US"/>
          </a:p>
          <a:p>
            <a:r>
              <a:rPr lang="en-US" sz="1800">
                <a:solidFill>
                  <a:srgbClr val="E7EEF8"/>
                </a:solidFill>
                <a:latin typeface="Aptos"/>
              </a:rPr>
              <a:t>- test/ holds automated tests</a:t>
            </a:r>
            <a:endParaRPr lang="en-US"/>
          </a:p>
          <a:p>
            <a:r>
              <a:rPr lang="en-US" sz="1800">
                <a:solidFill>
                  <a:srgbClr val="E7EEF8"/>
                </a:solidFill>
                <a:latin typeface="Aptos"/>
              </a:rPr>
              <a:t>- pubspec.yaml defines dependencies, assets, and project settings</a:t>
            </a:r>
            <a:endParaRPr lang="en-US"/>
          </a:p>
          <a:p>
            <a:r>
              <a:rPr lang="en-US" sz="1800">
                <a:solidFill>
                  <a:srgbClr val="E7EEF8"/>
                </a:solidFill>
                <a:latin typeface="Aptos"/>
              </a:rPr>
              <a:t>- Platform folders provide native host configuration</a:t>
            </a:r>
            <a:endParaRPr lang="en-US"/>
          </a:p>
        </p:txBody>
      </p:sp>
      <p:sp>
        <p:nvSpPr>
          <p:cNvPr id="9" name="Footer"/>
          <p:cNvSpPr/>
          <p:nvPr/>
        </p:nvSpPr>
        <p:spPr>
          <a:xfrm>
            <a:off x="720000" y="6250000"/>
            <a:ext cx="76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950">
                <a:solidFill>
                  <a:srgbClr val="8FA9C9"/>
                </a:solidFill>
                <a:latin typeface="Aptos"/>
              </a:rPr>
              <a:t>Flutter Learning Path  |  7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D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ccent"/>
          <p:cNvSpPr/>
          <p:nvPr/>
        </p:nvSpPr>
        <p:spPr>
          <a:xfrm>
            <a:off x="720000" y="1250000"/>
            <a:ext cx="1450000" cy="70000"/>
          </a:xfrm>
          <a:prstGeom prst="rect">
            <a:avLst/>
          </a:prstGeom>
          <a:solidFill>
            <a:srgbClr val="28C7FA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"/>
          <p:cNvSpPr/>
          <p:nvPr/>
        </p:nvSpPr>
        <p:spPr>
          <a:xfrm>
            <a:off x="720000" y="510000"/>
            <a:ext cx="7600000" cy="6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000" b="1">
                <a:solidFill>
                  <a:srgbClr val="FFFFFF"/>
                </a:solidFill>
                <a:latin typeface="Aptos"/>
              </a:rPr>
              <a:t>The lib/ Folder</a:t>
            </a:r>
            <a:endParaRPr lang="en-US"/>
          </a:p>
        </p:txBody>
      </p:sp>
      <p:sp>
        <p:nvSpPr>
          <p:cNvPr id="3" name="Content"/>
          <p:cNvSpPr/>
          <p:nvPr/>
        </p:nvSpPr>
        <p:spPr>
          <a:xfrm>
            <a:off x="930000" y="1680000"/>
            <a:ext cx="7100000" cy="4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>
                <a:solidFill>
                  <a:srgbClr val="E7EEF8"/>
                </a:solidFill>
                <a:latin typeface="Aptos"/>
              </a:rPr>
              <a:t>- The main workspace for Flutter application code</a:t>
            </a:r>
            <a:endParaRPr lang="en-US"/>
          </a:p>
          <a:p>
            <a:r>
              <a:rPr lang="en-US" sz="1800">
                <a:solidFill>
                  <a:srgbClr val="E7EEF8"/>
                </a:solidFill>
                <a:latin typeface="Aptos"/>
              </a:rPr>
              <a:t>- main.dart starts the app and calls runApp()</a:t>
            </a:r>
            <a:endParaRPr lang="en-US"/>
          </a:p>
          <a:p>
            <a:r>
              <a:rPr lang="en-US" sz="1800">
                <a:solidFill>
                  <a:srgbClr val="E7EEF8"/>
                </a:solidFill>
                <a:latin typeface="Aptos"/>
              </a:rPr>
              <a:t>- Organize screens, reusable widgets, models, services, and state</a:t>
            </a:r>
            <a:endParaRPr lang="en-US"/>
          </a:p>
          <a:p>
            <a:r>
              <a:rPr lang="en-US" sz="1800">
                <a:solidFill>
                  <a:srgbClr val="E7EEF8"/>
                </a:solidFill>
                <a:latin typeface="Aptos"/>
              </a:rPr>
              <a:t>- Keep feature code grouped so the project remains scalable</a:t>
            </a:r>
            <a:endParaRPr lang="en-US"/>
          </a:p>
        </p:txBody>
      </p:sp>
      <p:sp>
        <p:nvSpPr>
          <p:cNvPr id="9" name="Footer"/>
          <p:cNvSpPr/>
          <p:nvPr/>
        </p:nvSpPr>
        <p:spPr>
          <a:xfrm>
            <a:off x="720000" y="6250000"/>
            <a:ext cx="76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950">
                <a:solidFill>
                  <a:srgbClr val="8FA9C9"/>
                </a:solidFill>
                <a:latin typeface="Aptos"/>
              </a:rPr>
              <a:t>Flutter Learning Path  |  8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D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ccent"/>
          <p:cNvSpPr/>
          <p:nvPr/>
        </p:nvSpPr>
        <p:spPr>
          <a:xfrm>
            <a:off x="720000" y="1250000"/>
            <a:ext cx="1450000" cy="70000"/>
          </a:xfrm>
          <a:prstGeom prst="rect">
            <a:avLst/>
          </a:prstGeom>
          <a:solidFill>
            <a:srgbClr val="28C7FA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"/>
          <p:cNvSpPr/>
          <p:nvPr/>
        </p:nvSpPr>
        <p:spPr>
          <a:xfrm>
            <a:off x="720000" y="510000"/>
            <a:ext cx="7600000" cy="6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000" b="1">
                <a:solidFill>
                  <a:srgbClr val="FFFFFF"/>
                </a:solidFill>
                <a:latin typeface="Aptos"/>
              </a:rPr>
              <a:t>Everything is a Widget</a:t>
            </a:r>
            <a:endParaRPr lang="en-US"/>
          </a:p>
        </p:txBody>
      </p:sp>
      <p:sp>
        <p:nvSpPr>
          <p:cNvPr id="3" name="Content"/>
          <p:cNvSpPr/>
          <p:nvPr/>
        </p:nvSpPr>
        <p:spPr>
          <a:xfrm>
            <a:off x="930000" y="1680000"/>
            <a:ext cx="7100000" cy="4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>
                <a:solidFill>
                  <a:srgbClr val="E7EEF8"/>
                </a:solidFill>
                <a:latin typeface="Aptos"/>
              </a:rPr>
              <a:t>- Text, buttons, layouts, screens, and app shells are widgets</a:t>
            </a:r>
            <a:endParaRPr lang="en-US"/>
          </a:p>
          <a:p>
            <a:r>
              <a:rPr lang="en-US" sz="1800">
                <a:solidFill>
                  <a:srgbClr val="E7EEF8"/>
                </a:solidFill>
                <a:latin typeface="Aptos"/>
              </a:rPr>
              <a:t>- Widgets are composed together rather than drawn independently</a:t>
            </a:r>
            <a:endParaRPr lang="en-US"/>
          </a:p>
          <a:p>
            <a:r>
              <a:rPr lang="en-US" sz="1800">
                <a:solidFill>
                  <a:srgbClr val="E7EEF8"/>
                </a:solidFill>
                <a:latin typeface="Aptos"/>
              </a:rPr>
              <a:t>- A familiar path: MaterialApp &gt; Scaffold &gt; Center &gt; Text</a:t>
            </a:r>
            <a:endParaRPr lang="en-US"/>
          </a:p>
          <a:p>
            <a:r>
              <a:rPr lang="en-US" sz="1800">
                <a:solidFill>
                  <a:srgbClr val="E7EEF8"/>
                </a:solidFill>
                <a:latin typeface="Aptos"/>
              </a:rPr>
              <a:t>- This composition model makes UI reusable and predictable</a:t>
            </a:r>
            <a:endParaRPr lang="en-US"/>
          </a:p>
        </p:txBody>
      </p:sp>
      <p:sp>
        <p:nvSpPr>
          <p:cNvPr id="9" name="Footer"/>
          <p:cNvSpPr/>
          <p:nvPr/>
        </p:nvSpPr>
        <p:spPr>
          <a:xfrm>
            <a:off x="720000" y="6250000"/>
            <a:ext cx="76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950">
                <a:solidFill>
                  <a:srgbClr val="8FA9C9"/>
                </a:solidFill>
                <a:latin typeface="Aptos"/>
              </a:rPr>
              <a:t>Flutter Learning Path  |  9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D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ccent"/>
          <p:cNvSpPr/>
          <p:nvPr/>
        </p:nvSpPr>
        <p:spPr>
          <a:xfrm>
            <a:off x="720000" y="1250000"/>
            <a:ext cx="1450000" cy="70000"/>
          </a:xfrm>
          <a:prstGeom prst="rect">
            <a:avLst/>
          </a:prstGeom>
          <a:solidFill>
            <a:srgbClr val="28C7FA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"/>
          <p:cNvSpPr/>
          <p:nvPr/>
        </p:nvSpPr>
        <p:spPr>
          <a:xfrm>
            <a:off x="720000" y="510000"/>
            <a:ext cx="7600000" cy="6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000" b="1">
                <a:solidFill>
                  <a:srgbClr val="FFFFFF"/>
                </a:solidFill>
                <a:latin typeface="Aptos"/>
              </a:rPr>
              <a:t>Widget Tree</a:t>
            </a:r>
            <a:endParaRPr lang="en-US"/>
          </a:p>
        </p:txBody>
      </p:sp>
      <p:sp>
        <p:nvSpPr>
          <p:cNvPr id="3" name="Content"/>
          <p:cNvSpPr/>
          <p:nvPr/>
        </p:nvSpPr>
        <p:spPr>
          <a:xfrm>
            <a:off x="930000" y="1680000"/>
            <a:ext cx="7100000" cy="4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>
                <a:solidFill>
                  <a:srgbClr val="E7EEF8"/>
                </a:solidFill>
                <a:latin typeface="Aptos"/>
              </a:rPr>
              <a:t>- Flutter UI is represented as a hierarchy of widgets</a:t>
            </a:r>
            <a:endParaRPr lang="en-US"/>
          </a:p>
          <a:p>
            <a:r>
              <a:rPr lang="en-US" sz="1800">
                <a:solidFill>
                  <a:srgbClr val="E7EEF8"/>
                </a:solidFill>
                <a:latin typeface="Aptos"/>
              </a:rPr>
              <a:t>- Parent widgets provide structure and constraints to children</a:t>
            </a:r>
            <a:endParaRPr lang="en-US"/>
          </a:p>
          <a:p>
            <a:r>
              <a:rPr lang="en-US" sz="1800">
                <a:solidFill>
                  <a:srgbClr val="E7EEF8"/>
                </a:solidFill>
                <a:latin typeface="Aptos"/>
              </a:rPr>
              <a:t>- Small focused widgets are easier to test and reuse</a:t>
            </a:r>
            <a:endParaRPr lang="en-US"/>
          </a:p>
          <a:p>
            <a:r>
              <a:rPr lang="en-US" sz="1800">
                <a:solidFill>
                  <a:srgbClr val="E7EEF8"/>
                </a:solidFill>
                <a:latin typeface="Aptos"/>
              </a:rPr>
              <a:t>- Understanding the tree makes layout and state issues easier to solve</a:t>
            </a:r>
            <a:endParaRPr lang="en-US"/>
          </a:p>
        </p:txBody>
      </p:sp>
      <p:sp>
        <p:nvSpPr>
          <p:cNvPr id="9" name="Footer"/>
          <p:cNvSpPr/>
          <p:nvPr/>
        </p:nvSpPr>
        <p:spPr>
          <a:xfrm>
            <a:off x="720000" y="6250000"/>
            <a:ext cx="76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950">
                <a:solidFill>
                  <a:srgbClr val="8FA9C9"/>
                </a:solidFill>
                <a:latin typeface="Aptos"/>
              </a:rPr>
              <a:t>Flutter Learning Path  |  10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D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ccent"/>
          <p:cNvSpPr/>
          <p:nvPr/>
        </p:nvSpPr>
        <p:spPr>
          <a:xfrm>
            <a:off x="720000" y="1250000"/>
            <a:ext cx="1450000" cy="70000"/>
          </a:xfrm>
          <a:prstGeom prst="rect">
            <a:avLst/>
          </a:prstGeom>
          <a:solidFill>
            <a:srgbClr val="28C7FA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"/>
          <p:cNvSpPr/>
          <p:nvPr/>
        </p:nvSpPr>
        <p:spPr>
          <a:xfrm>
            <a:off x="720000" y="510000"/>
            <a:ext cx="7600000" cy="6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000" b="1">
                <a:solidFill>
                  <a:srgbClr val="FFFFFF"/>
                </a:solidFill>
                <a:latin typeface="Aptos"/>
              </a:rPr>
              <a:t>Widget Types and State</a:t>
            </a:r>
            <a:endParaRPr lang="en-US"/>
          </a:p>
        </p:txBody>
      </p:sp>
      <p:sp>
        <p:nvSpPr>
          <p:cNvPr id="3" name="Content"/>
          <p:cNvSpPr/>
          <p:nvPr/>
        </p:nvSpPr>
        <p:spPr>
          <a:xfrm>
            <a:off x="930000" y="1680000"/>
            <a:ext cx="7100000" cy="4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>
                <a:solidFill>
                  <a:srgbClr val="E7EEF8"/>
                </a:solidFill>
                <a:latin typeface="Aptos"/>
              </a:rPr>
              <a:t>- StatelessWidget describes UI that depends only on inputs</a:t>
            </a:r>
            <a:endParaRPr lang="en-US"/>
          </a:p>
          <a:p>
            <a:r>
              <a:rPr lang="en-US" sz="1800">
                <a:solidFill>
                  <a:srgbClr val="E7EEF8"/>
                </a:solidFill>
                <a:latin typeface="Aptos"/>
              </a:rPr>
              <a:t>- StatefulWidget supports UI that changes during app use</a:t>
            </a:r>
            <a:endParaRPr lang="en-US"/>
          </a:p>
          <a:p>
            <a:r>
              <a:rPr lang="en-US" sz="1800">
                <a:solidFill>
                  <a:srgbClr val="E7EEF8"/>
                </a:solidFill>
                <a:latin typeface="Aptos"/>
              </a:rPr>
              <a:t>- State is rebuilt into the widget tree when data changes</a:t>
            </a:r>
            <a:endParaRPr lang="en-US"/>
          </a:p>
          <a:p>
            <a:r>
              <a:rPr lang="en-US" sz="1800">
                <a:solidFill>
                  <a:srgbClr val="E7EEF8"/>
                </a:solidFill>
                <a:latin typeface="Aptos"/>
              </a:rPr>
              <a:t>- Choose the smallest state boundary that solves the interaction</a:t>
            </a:r>
            <a:endParaRPr lang="en-US"/>
          </a:p>
        </p:txBody>
      </p:sp>
      <p:sp>
        <p:nvSpPr>
          <p:cNvPr id="9" name="Footer"/>
          <p:cNvSpPr/>
          <p:nvPr/>
        </p:nvSpPr>
        <p:spPr>
          <a:xfrm>
            <a:off x="720000" y="6250000"/>
            <a:ext cx="76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950">
                <a:solidFill>
                  <a:srgbClr val="8FA9C9"/>
                </a:solidFill>
                <a:latin typeface="Aptos"/>
              </a:rPr>
              <a:t>Flutter Learning Path  |  11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D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ccent"/>
          <p:cNvSpPr/>
          <p:nvPr/>
        </p:nvSpPr>
        <p:spPr>
          <a:xfrm>
            <a:off x="720000" y="1250000"/>
            <a:ext cx="1450000" cy="70000"/>
          </a:xfrm>
          <a:prstGeom prst="rect">
            <a:avLst/>
          </a:prstGeom>
          <a:solidFill>
            <a:srgbClr val="28C7FA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"/>
          <p:cNvSpPr/>
          <p:nvPr/>
        </p:nvSpPr>
        <p:spPr>
          <a:xfrm>
            <a:off x="720000" y="510000"/>
            <a:ext cx="7600000" cy="6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000" b="1">
                <a:solidFill>
                  <a:srgbClr val="FFFFFF"/>
                </a:solidFill>
                <a:latin typeface="Aptos"/>
              </a:rPr>
              <a:t>Building App UI</a:t>
            </a:r>
            <a:endParaRPr lang="en-US"/>
          </a:p>
        </p:txBody>
      </p:sp>
      <p:sp>
        <p:nvSpPr>
          <p:cNvPr id="3" name="Content"/>
          <p:cNvSpPr/>
          <p:nvPr/>
        </p:nvSpPr>
        <p:spPr>
          <a:xfrm>
            <a:off x="930000" y="1680000"/>
            <a:ext cx="7100000" cy="4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>
                <a:solidFill>
                  <a:srgbClr val="E7EEF8"/>
                </a:solidFill>
                <a:latin typeface="Aptos"/>
              </a:rPr>
              <a:t>- Start with display widgets: Text, Image, Icon, and cards</a:t>
            </a:r>
            <a:endParaRPr lang="en-US"/>
          </a:p>
          <a:p>
            <a:r>
              <a:rPr lang="en-US" sz="1800">
                <a:solidFill>
                  <a:srgbClr val="E7EEF8"/>
                </a:solidFill>
                <a:latin typeface="Aptos"/>
              </a:rPr>
              <a:t>- Use layout widgets: Row, Column, Stack, Container, and Flex</a:t>
            </a:r>
            <a:endParaRPr lang="en-US"/>
          </a:p>
          <a:p>
            <a:r>
              <a:rPr lang="en-US" sz="1800">
                <a:solidFill>
                  <a:srgbClr val="E7EEF8"/>
                </a:solidFill>
                <a:latin typeface="Aptos"/>
              </a:rPr>
              <a:t>- Apply themes, color, typography, decoration, and material effects</a:t>
            </a:r>
            <a:endParaRPr lang="en-US"/>
          </a:p>
          <a:p>
            <a:r>
              <a:rPr lang="en-US" sz="1800">
                <a:solidFill>
                  <a:srgbClr val="E7EEF8"/>
                </a:solidFill>
                <a:latin typeface="Aptos"/>
              </a:rPr>
              <a:t>- Add scrolling, lists, grids, navigation, dialogs, and animations</a:t>
            </a:r>
            <a:endParaRPr lang="en-US"/>
          </a:p>
        </p:txBody>
      </p:sp>
      <p:sp>
        <p:nvSpPr>
          <p:cNvPr id="9" name="Footer"/>
          <p:cNvSpPr/>
          <p:nvPr/>
        </p:nvSpPr>
        <p:spPr>
          <a:xfrm>
            <a:off x="720000" y="6250000"/>
            <a:ext cx="76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950">
                <a:solidFill>
                  <a:srgbClr val="8FA9C9"/>
                </a:solidFill>
                <a:latin typeface="Aptos"/>
              </a:rPr>
              <a:t>Flutter Learning Path  |  12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D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ccent"/>
          <p:cNvSpPr/>
          <p:nvPr/>
        </p:nvSpPr>
        <p:spPr>
          <a:xfrm>
            <a:off x="720000" y="1250000"/>
            <a:ext cx="1450000" cy="70000"/>
          </a:xfrm>
          <a:prstGeom prst="rect">
            <a:avLst/>
          </a:prstGeom>
          <a:solidFill>
            <a:srgbClr val="28C7FA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"/>
          <p:cNvSpPr/>
          <p:nvPr/>
        </p:nvSpPr>
        <p:spPr>
          <a:xfrm>
            <a:off x="720000" y="510000"/>
            <a:ext cx="7600000" cy="6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000" b="1">
                <a:solidFill>
                  <a:srgbClr val="FFFFFF"/>
                </a:solidFill>
                <a:latin typeface="Aptos"/>
              </a:rPr>
              <a:t>Navigation and Interaction</a:t>
            </a:r>
            <a:endParaRPr lang="en-US"/>
          </a:p>
        </p:txBody>
      </p:sp>
      <p:sp>
        <p:nvSpPr>
          <p:cNvPr id="3" name="Content"/>
          <p:cNvSpPr/>
          <p:nvPr/>
        </p:nvSpPr>
        <p:spPr>
          <a:xfrm>
            <a:off x="930000" y="1680000"/>
            <a:ext cx="7100000" cy="4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>
                <a:solidFill>
                  <a:srgbClr val="E7EEF8"/>
                </a:solidFill>
                <a:latin typeface="Aptos"/>
              </a:rPr>
              <a:t>- Navigator manages a stack of screens and routes</a:t>
            </a:r>
            <a:endParaRPr lang="en-US"/>
          </a:p>
          <a:p>
            <a:r>
              <a:rPr lang="en-US" sz="1800">
                <a:solidFill>
                  <a:srgbClr val="E7EEF8"/>
                </a:solidFill>
                <a:latin typeface="Aptos"/>
              </a:rPr>
              <a:t>- Named routes and Router APIs support structured navigation</a:t>
            </a:r>
            <a:endParaRPr lang="en-US"/>
          </a:p>
          <a:p>
            <a:r>
              <a:rPr lang="en-US" sz="1800">
                <a:solidFill>
                  <a:srgbClr val="E7EEF8"/>
                </a:solidFill>
                <a:latin typeface="Aptos"/>
              </a:rPr>
              <a:t>- Dialogs, sheets, menus, and overlays handle focused interactions</a:t>
            </a:r>
            <a:endParaRPr lang="en-US"/>
          </a:p>
          <a:p>
            <a:r>
              <a:rPr lang="en-US" sz="1800">
                <a:solidFill>
                  <a:srgbClr val="E7EEF8"/>
                </a:solidFill>
                <a:latin typeface="Aptos"/>
              </a:rPr>
              <a:t>- Keyboard, focus, gestures, and selections make apps usable</a:t>
            </a:r>
            <a:endParaRPr lang="en-US"/>
          </a:p>
        </p:txBody>
      </p:sp>
      <p:sp>
        <p:nvSpPr>
          <p:cNvPr id="9" name="Footer"/>
          <p:cNvSpPr/>
          <p:nvPr/>
        </p:nvSpPr>
        <p:spPr>
          <a:xfrm>
            <a:off x="720000" y="6250000"/>
            <a:ext cx="76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950">
                <a:solidFill>
                  <a:srgbClr val="8FA9C9"/>
                </a:solidFill>
                <a:latin typeface="Aptos"/>
              </a:rPr>
              <a:t>Flutter Learning Path  |  13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D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ccent"/>
          <p:cNvSpPr/>
          <p:nvPr/>
        </p:nvSpPr>
        <p:spPr>
          <a:xfrm>
            <a:off x="720000" y="1250000"/>
            <a:ext cx="1450000" cy="70000"/>
          </a:xfrm>
          <a:prstGeom prst="rect">
            <a:avLst/>
          </a:prstGeom>
          <a:solidFill>
            <a:srgbClr val="28C7FA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"/>
          <p:cNvSpPr/>
          <p:nvPr/>
        </p:nvSpPr>
        <p:spPr>
          <a:xfrm>
            <a:off x="720000" y="510000"/>
            <a:ext cx="7600000" cy="6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000" b="1">
                <a:solidFill>
                  <a:srgbClr val="FFFFFF"/>
                </a:solidFill>
                <a:latin typeface="Aptos"/>
              </a:rPr>
              <a:t>App Logic Layer</a:t>
            </a:r>
            <a:endParaRPr lang="en-US"/>
          </a:p>
        </p:txBody>
      </p:sp>
      <p:sp>
        <p:nvSpPr>
          <p:cNvPr id="3" name="Content"/>
          <p:cNvSpPr/>
          <p:nvPr/>
        </p:nvSpPr>
        <p:spPr>
          <a:xfrm>
            <a:off x="930000" y="1680000"/>
            <a:ext cx="7100000" cy="4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>
                <a:solidFill>
                  <a:srgbClr val="E7EEF8"/>
                </a:solidFill>
                <a:latin typeface="Aptos"/>
              </a:rPr>
              <a:t>- State management connects changing data to the UI</a:t>
            </a:r>
            <a:endParaRPr lang="en-US"/>
          </a:p>
          <a:p>
            <a:r>
              <a:rPr lang="en-US" sz="1800">
                <a:solidFill>
                  <a:srgbClr val="E7EEF8"/>
                </a:solidFill>
                <a:latin typeface="Aptos"/>
              </a:rPr>
              <a:t>- Business logic keeps rules and behaviors out of widget code</a:t>
            </a:r>
            <a:endParaRPr lang="en-US"/>
          </a:p>
          <a:p>
            <a:r>
              <a:rPr lang="en-US" sz="1800">
                <a:solidFill>
                  <a:srgbClr val="E7EEF8"/>
                </a:solidFill>
                <a:latin typeface="Aptos"/>
              </a:rPr>
              <a:t>- Service layer handles APIs, Firebase, and local persistence</a:t>
            </a:r>
            <a:endParaRPr lang="en-US"/>
          </a:p>
          <a:p>
            <a:r>
              <a:rPr lang="en-US" sz="1800">
                <a:solidFill>
                  <a:srgbClr val="E7EEF8"/>
                </a:solidFill>
                <a:latin typeface="Aptos"/>
              </a:rPr>
              <a:t>- Data models define typed application data and serialization</a:t>
            </a:r>
            <a:endParaRPr lang="en-US"/>
          </a:p>
        </p:txBody>
      </p:sp>
      <p:sp>
        <p:nvSpPr>
          <p:cNvPr id="9" name="Footer"/>
          <p:cNvSpPr/>
          <p:nvPr/>
        </p:nvSpPr>
        <p:spPr>
          <a:xfrm>
            <a:off x="720000" y="6250000"/>
            <a:ext cx="76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950">
                <a:solidFill>
                  <a:srgbClr val="8FA9C9"/>
                </a:solidFill>
                <a:latin typeface="Aptos"/>
              </a:rPr>
              <a:t>Flutter Learning Path  |  14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D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ccent"/>
          <p:cNvSpPr/>
          <p:nvPr/>
        </p:nvSpPr>
        <p:spPr>
          <a:xfrm>
            <a:off x="720000" y="1250000"/>
            <a:ext cx="1450000" cy="70000"/>
          </a:xfrm>
          <a:prstGeom prst="rect">
            <a:avLst/>
          </a:prstGeom>
          <a:solidFill>
            <a:srgbClr val="28C7FA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"/>
          <p:cNvSpPr/>
          <p:nvPr/>
        </p:nvSpPr>
        <p:spPr>
          <a:xfrm>
            <a:off x="720000" y="510000"/>
            <a:ext cx="7600000" cy="6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000" b="1">
                <a:solidFill>
                  <a:srgbClr val="FFFFFF"/>
                </a:solidFill>
                <a:latin typeface="Aptos"/>
              </a:rPr>
              <a:t>State Management Growth Path</a:t>
            </a:r>
            <a:endParaRPr lang="en-US"/>
          </a:p>
        </p:txBody>
      </p:sp>
      <p:sp>
        <p:nvSpPr>
          <p:cNvPr id="3" name="Content"/>
          <p:cNvSpPr/>
          <p:nvPr/>
        </p:nvSpPr>
        <p:spPr>
          <a:xfrm>
            <a:off x="930000" y="1680000"/>
            <a:ext cx="7100000" cy="4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>
                <a:solidFill>
                  <a:srgbClr val="E7EEF8"/>
                </a:solidFill>
                <a:latin typeface="Aptos"/>
              </a:rPr>
              <a:t>- Begin with setState for local, simple interaction state</a:t>
            </a:r>
            <a:endParaRPr lang="en-US"/>
          </a:p>
          <a:p>
            <a:r>
              <a:rPr lang="en-US" sz="1800">
                <a:solidFill>
                  <a:srgbClr val="E7EEF8"/>
                </a:solidFill>
                <a:latin typeface="Aptos"/>
              </a:rPr>
              <a:t>- Use Provider for approachable app-wide state</a:t>
            </a:r>
            <a:endParaRPr lang="en-US"/>
          </a:p>
          <a:p>
            <a:r>
              <a:rPr lang="en-US" sz="1800">
                <a:solidFill>
                  <a:srgbClr val="E7EEF8"/>
                </a:solidFill>
                <a:latin typeface="Aptos"/>
              </a:rPr>
              <a:t>- Adopt Riverpod or Bloc for larger, scalable applications</a:t>
            </a:r>
            <a:endParaRPr lang="en-US"/>
          </a:p>
          <a:p>
            <a:r>
              <a:rPr lang="en-US" sz="1800">
                <a:solidFill>
                  <a:srgbClr val="E7EEF8"/>
                </a:solidFill>
                <a:latin typeface="Aptos"/>
              </a:rPr>
              <a:t>- Keep state, business rules, and rendering responsibilities separate</a:t>
            </a:r>
            <a:endParaRPr lang="en-US"/>
          </a:p>
        </p:txBody>
      </p:sp>
      <p:sp>
        <p:nvSpPr>
          <p:cNvPr id="9" name="Footer"/>
          <p:cNvSpPr/>
          <p:nvPr/>
        </p:nvSpPr>
        <p:spPr>
          <a:xfrm>
            <a:off x="720000" y="6250000"/>
            <a:ext cx="76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950">
                <a:solidFill>
                  <a:srgbClr val="8FA9C9"/>
                </a:solidFill>
                <a:latin typeface="Aptos"/>
              </a:rPr>
              <a:t>Flutter Learning Path  |  15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D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ccent"/>
          <p:cNvSpPr/>
          <p:nvPr/>
        </p:nvSpPr>
        <p:spPr>
          <a:xfrm>
            <a:off x="720000" y="1250000"/>
            <a:ext cx="1450000" cy="70000"/>
          </a:xfrm>
          <a:prstGeom prst="rect">
            <a:avLst/>
          </a:prstGeom>
          <a:solidFill>
            <a:srgbClr val="28C7FA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"/>
          <p:cNvSpPr/>
          <p:nvPr/>
        </p:nvSpPr>
        <p:spPr>
          <a:xfrm>
            <a:off x="720000" y="510000"/>
            <a:ext cx="7600000" cy="6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000" b="1">
                <a:solidFill>
                  <a:srgbClr val="FFFFFF"/>
                </a:solidFill>
                <a:latin typeface="Aptos"/>
              </a:rPr>
              <a:t>Layered Architecture</a:t>
            </a:r>
            <a:endParaRPr lang="en-US"/>
          </a:p>
        </p:txBody>
      </p:sp>
      <p:sp>
        <p:nvSpPr>
          <p:cNvPr id="3" name="Content"/>
          <p:cNvSpPr/>
          <p:nvPr/>
        </p:nvSpPr>
        <p:spPr>
          <a:xfrm>
            <a:off x="930000" y="1680000"/>
            <a:ext cx="7100000" cy="4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>
                <a:solidFill>
                  <a:srgbClr val="E7EEF8"/>
                </a:solidFill>
                <a:latin typeface="Aptos"/>
              </a:rPr>
              <a:t>- UI Layer - widgets, screens, navigation, and presentation</a:t>
            </a:r>
            <a:endParaRPr lang="en-US"/>
          </a:p>
          <a:p>
            <a:r>
              <a:rPr lang="en-US" sz="1800">
                <a:solidFill>
                  <a:srgbClr val="E7EEF8"/>
                </a:solidFill>
                <a:latin typeface="Aptos"/>
              </a:rPr>
              <a:t>- Logic Layer - state management and business rules</a:t>
            </a:r>
            <a:endParaRPr lang="en-US"/>
          </a:p>
          <a:p>
            <a:r>
              <a:rPr lang="en-US" sz="1800">
                <a:solidFill>
                  <a:srgbClr val="E7EEF8"/>
                </a:solidFill>
                <a:latin typeface="Aptos"/>
              </a:rPr>
              <a:t>- Data Layer - services, repositories, persistence, and models</a:t>
            </a:r>
            <a:endParaRPr lang="en-US"/>
          </a:p>
          <a:p>
            <a:r>
              <a:rPr lang="en-US" sz="1800">
                <a:solidFill>
                  <a:srgbClr val="E7EEF8"/>
                </a:solidFill>
                <a:latin typeface="Aptos"/>
              </a:rPr>
              <a:t>- Platform Layer - native integration and platform channels</a:t>
            </a:r>
            <a:endParaRPr lang="en-US"/>
          </a:p>
        </p:txBody>
      </p:sp>
      <p:sp>
        <p:nvSpPr>
          <p:cNvPr id="9" name="Footer"/>
          <p:cNvSpPr/>
          <p:nvPr/>
        </p:nvSpPr>
        <p:spPr>
          <a:xfrm>
            <a:off x="720000" y="6250000"/>
            <a:ext cx="76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950">
                <a:solidFill>
                  <a:srgbClr val="8FA9C9"/>
                </a:solidFill>
                <a:latin typeface="Aptos"/>
              </a:rPr>
              <a:t>Flutter Learning Path  |  16</a:t>
            </a: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D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ccent"/>
          <p:cNvSpPr/>
          <p:nvPr/>
        </p:nvSpPr>
        <p:spPr>
          <a:xfrm>
            <a:off x="720000" y="1250000"/>
            <a:ext cx="1450000" cy="70000"/>
          </a:xfrm>
          <a:prstGeom prst="rect">
            <a:avLst/>
          </a:prstGeom>
          <a:solidFill>
            <a:srgbClr val="28C7FA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"/>
          <p:cNvSpPr/>
          <p:nvPr/>
        </p:nvSpPr>
        <p:spPr>
          <a:xfrm>
            <a:off x="720000" y="510000"/>
            <a:ext cx="7600000" cy="6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000" b="1">
                <a:solidFill>
                  <a:srgbClr val="FFFFFF"/>
                </a:solidFill>
                <a:latin typeface="Aptos"/>
              </a:rPr>
              <a:t>Suggested Learning Sequence</a:t>
            </a:r>
            <a:endParaRPr lang="en-US"/>
          </a:p>
        </p:txBody>
      </p:sp>
      <p:sp>
        <p:nvSpPr>
          <p:cNvPr id="3" name="Content"/>
          <p:cNvSpPr/>
          <p:nvPr/>
        </p:nvSpPr>
        <p:spPr>
          <a:xfrm>
            <a:off x="930000" y="1680000"/>
            <a:ext cx="7100000" cy="4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>
                <a:solidFill>
                  <a:srgbClr val="E7EEF8"/>
                </a:solidFill>
                <a:latin typeface="Aptos"/>
              </a:rPr>
              <a:t>- Master widgets, layouts, project structure, and navigation</a:t>
            </a:r>
            <a:endParaRPr lang="en-US"/>
          </a:p>
          <a:p>
            <a:r>
              <a:rPr lang="en-US" sz="1800">
                <a:solidFill>
                  <a:srgbClr val="E7EEF8"/>
                </a:solidFill>
                <a:latin typeface="Aptos"/>
              </a:rPr>
              <a:t>- Practice StatefulWidget and setState with small features</a:t>
            </a:r>
            <a:endParaRPr lang="en-US"/>
          </a:p>
          <a:p>
            <a:r>
              <a:rPr lang="en-US" sz="1800">
                <a:solidFill>
                  <a:srgbClr val="E7EEF8"/>
                </a:solidFill>
                <a:latin typeface="Aptos"/>
              </a:rPr>
              <a:t>- Introduce state-management patterns as apps grow</a:t>
            </a:r>
            <a:endParaRPr lang="en-US"/>
          </a:p>
          <a:p>
            <a:r>
              <a:rPr lang="en-US" sz="1800">
                <a:solidFill>
                  <a:srgbClr val="E7EEF8"/>
                </a:solidFill>
                <a:latin typeface="Aptos"/>
              </a:rPr>
              <a:t>- Connect APIs, local storage, data models, and native capabilities</a:t>
            </a:r>
            <a:endParaRPr lang="en-US"/>
          </a:p>
        </p:txBody>
      </p:sp>
      <p:sp>
        <p:nvSpPr>
          <p:cNvPr id="9" name="Footer"/>
          <p:cNvSpPr/>
          <p:nvPr/>
        </p:nvSpPr>
        <p:spPr>
          <a:xfrm>
            <a:off x="720000" y="6250000"/>
            <a:ext cx="76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950">
                <a:solidFill>
                  <a:srgbClr val="8FA9C9"/>
                </a:solidFill>
                <a:latin typeface="Aptos"/>
              </a:rPr>
              <a:t>Flutter Learning Path  |  17</a:t>
            </a:r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D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ccent"/>
          <p:cNvSpPr/>
          <p:nvPr/>
        </p:nvSpPr>
        <p:spPr>
          <a:xfrm>
            <a:off x="720000" y="1250000"/>
            <a:ext cx="1450000" cy="70000"/>
          </a:xfrm>
          <a:prstGeom prst="rect">
            <a:avLst/>
          </a:prstGeom>
          <a:solidFill>
            <a:srgbClr val="28C7FA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"/>
          <p:cNvSpPr/>
          <p:nvPr/>
        </p:nvSpPr>
        <p:spPr>
          <a:xfrm>
            <a:off x="720000" y="510000"/>
            <a:ext cx="7600000" cy="6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000" b="1">
                <a:solidFill>
                  <a:srgbClr val="FFFFFF"/>
                </a:solidFill>
                <a:latin typeface="Aptos"/>
              </a:rPr>
              <a:t>Next Step</a:t>
            </a:r>
            <a:endParaRPr lang="en-US"/>
          </a:p>
        </p:txBody>
      </p:sp>
      <p:sp>
        <p:nvSpPr>
          <p:cNvPr id="3" name="Content"/>
          <p:cNvSpPr/>
          <p:nvPr/>
        </p:nvSpPr>
        <p:spPr>
          <a:xfrm>
            <a:off x="930000" y="1680000"/>
            <a:ext cx="7100000" cy="4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>
                <a:solidFill>
                  <a:srgbClr val="E7EEF8"/>
                </a:solidFill>
                <a:latin typeface="Aptos"/>
              </a:rPr>
              <a:t>- Use the topic folders in lib/ as focused lesson notes</a:t>
            </a:r>
            <a:endParaRPr lang="en-US"/>
          </a:p>
          <a:p>
            <a:r>
              <a:rPr lang="en-US" sz="1800">
                <a:solidFill>
                  <a:srgbClr val="E7EEF8"/>
                </a:solidFill>
                <a:latin typeface="Aptos"/>
              </a:rPr>
              <a:t>- Turn each concept into a small Flutter exercise</a:t>
            </a:r>
            <a:endParaRPr lang="en-US"/>
          </a:p>
          <a:p>
            <a:r>
              <a:rPr lang="en-US" sz="1800">
                <a:solidFill>
                  <a:srgbClr val="E7EEF8"/>
                </a:solidFill>
                <a:latin typeface="Aptos"/>
              </a:rPr>
              <a:t>- Build one feature at a time, then combine them into real apps</a:t>
            </a:r>
            <a:endParaRPr lang="en-US"/>
          </a:p>
          <a:p>
            <a:r>
              <a:rPr lang="en-US" sz="1800">
                <a:solidFill>
                  <a:srgbClr val="E7EEF8"/>
                </a:solidFill>
                <a:latin typeface="Aptos"/>
              </a:rPr>
              <a:t>- Keep this presentation as the map for the full learning journey</a:t>
            </a:r>
            <a:endParaRPr lang="en-US"/>
          </a:p>
        </p:txBody>
      </p:sp>
      <p:sp>
        <p:nvSpPr>
          <p:cNvPr id="9" name="Footer"/>
          <p:cNvSpPr/>
          <p:nvPr/>
        </p:nvSpPr>
        <p:spPr>
          <a:xfrm>
            <a:off x="720000" y="6250000"/>
            <a:ext cx="76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950">
                <a:solidFill>
                  <a:srgbClr val="8FA9C9"/>
                </a:solidFill>
                <a:latin typeface="Aptos"/>
              </a:rPr>
              <a:t>Flutter Learning Path  |  18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On-screen Show (4:3)</PresentationFormat>
  <Paragraphs>1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hi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</dc:title>
  <dc:creator>Md. Ariful Islam Khan</dc:creator>
  <cp:lastModifiedBy>Md. Ariful Islam Khan</cp:lastModifiedBy>
  <cp:revision>1</cp:revision>
  <dcterms:created xsi:type="dcterms:W3CDTF">2026-07-29T18:58:01Z</dcterms:created>
  <dcterms:modified xsi:type="dcterms:W3CDTF">2026-07-29T18:58:13Z</dcterms:modified>
</cp:coreProperties>
</file>